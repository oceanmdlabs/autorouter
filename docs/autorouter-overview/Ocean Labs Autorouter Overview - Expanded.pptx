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51760" y="26791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2E61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Ocean Labs Autorouter Overview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230368" y="3447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4780"/>
                </a:solidFill>
              </a:rPr>
              <a:t>Jun 2, 2026</a:t>
            </a:r>
            <a:endParaRPr lang="en-US" sz="1800" dirty="0"/>
          </a:p>
        </p:txBody>
      </p:sp>
      <p:pic>
        <p:nvPicPr>
          <p:cNvPr id="8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11521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3047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Supported Routing and Receiving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68096" y="1901952"/>
            <a:ext cx="84582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teams are often required to manually review and forward incoming eReferrals based on patient location, urgency, and specialty. This process is time-consuming and prone to inconsistencies, especially at scale.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" y="2907792"/>
            <a:ext cx="845820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Ocean’s intelligent routing and receiving feature uses configurable rules and AI to automate referral handling: triaging, routing, requesting more information, and converting referrals to eConsults when appropriate.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8096" y="4096512"/>
            <a:ext cx="80467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drive efficiency and reduce administrative effort for receivers while maintaining a transparent, auditable workflow.</a:t>
            </a:r>
            <a:endParaRPr lang="en-US" sz="1600" dirty="0"/>
          </a:p>
        </p:txBody>
      </p:sp>
      <p:pic>
        <p:nvPicPr>
          <p:cNvPr id="10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11521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3047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Supported Routing and Receiving Use Cases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68096" y="1883664"/>
            <a:ext cx="2971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Triage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7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Assignment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8096" y="2670048"/>
            <a:ext cx="278892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F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Rules-based routing directs referrals to the appropriate specialist based on geography, specialty, urgency, and pathway criteria.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498848" y="1883664"/>
            <a:ext cx="2971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Care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7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498848" y="2670048"/>
            <a:ext cx="278892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Low-acuity referrals can be converted to eConsults when appropriate. Providers are notified of the change and rationale.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229600" y="1883664"/>
            <a:ext cx="2971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Communication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76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 SMS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29600" y="2670048"/>
            <a:ext cx="278892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F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a referral is accepted and scheduled, the workflow can send appointment confirmations and instructions through configured SMS tools.</a:t>
            </a:r>
            <a:endParaRPr lang="en-US" sz="1550" dirty="0"/>
          </a:p>
        </p:txBody>
      </p:sp>
      <p:pic>
        <p:nvPicPr>
          <p:cNvPr id="13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96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3047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cases: high-volume clinical triage patterns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86384" y="15179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F4350"/>
                </a:solidFill>
              </a:rPr>
              <a:t>These examples are product references, not validated clinical policy; each tenant owns its rule criteria and review process.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" y="1874520"/>
            <a:ext cx="3154680" cy="1901952"/>
          </a:xfrm>
          <a:prstGeom prst="roundRect">
            <a:avLst>
              <a:gd name="adj" fmla="val 2404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057400"/>
            <a:ext cx="164592" cy="164592"/>
          </a:xfrm>
          <a:prstGeom prst="ellipse">
            <a:avLst/>
          </a:prstGeom>
          <a:solidFill>
            <a:srgbClr val="FF4D78"/>
          </a:solidFill>
          <a:ln w="12700">
            <a:solidFill>
              <a:srgbClr val="FF4D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03911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Cardiology urgency review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87552" y="2496312"/>
            <a:ext cx="27157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F4350"/>
                </a:solidFill>
              </a:rPr>
              <a:t>Detect chest pain, syncope, ACS, critical stenosis, or other urgent indicators and send an urgent internal review alert.</a:t>
            </a:r>
            <a:endParaRPr lang="en-US" sz="1070" dirty="0"/>
          </a:p>
        </p:txBody>
      </p:sp>
      <p:sp>
        <p:nvSpPr>
          <p:cNvPr id="12" name="Text 9"/>
          <p:cNvSpPr/>
          <p:nvPr/>
        </p:nvSpPr>
        <p:spPr>
          <a:xfrm>
            <a:off x="932688" y="3986784"/>
            <a:ext cx="290779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920" dirty="0">
                <a:solidFill>
                  <a:srgbClr val="3F4350"/>
                </a:solidFill>
              </a:rPr>
              <a:t>Trigger: new referral received</a:t>
            </a:r>
            <a:endParaRPr lang="en-US" sz="920" dirty="0"/>
          </a:p>
          <a:p>
            <a:r>
              <a:rPr lang="en-US" sz="920" dirty="0">
                <a:solidFill>
                  <a:srgbClr val="3F4350"/>
                </a:solidFill>
              </a:rPr>
              <a:t>Tools: referral analysis + email</a:t>
            </a:r>
            <a:endParaRPr lang="en-US" sz="920" dirty="0"/>
          </a:p>
          <a:p>
            <a:r>
              <a:rPr lang="en-US" sz="920" dirty="0">
                <a:solidFill>
                  <a:srgbClr val="3F4350"/>
                </a:solidFill>
              </a:rPr>
              <a:t>Fallback: mark for manual review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4498848" y="1874520"/>
            <a:ext cx="3154680" cy="1901952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2057400"/>
            <a:ext cx="164592" cy="164592"/>
          </a:xfrm>
          <a:prstGeom prst="ellipse">
            <a:avLst/>
          </a:prstGeom>
          <a:solidFill>
            <a:srgbClr val="8EF176"/>
          </a:solidFill>
          <a:ln w="12700">
            <a:solidFill>
              <a:srgbClr val="8EF1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18304" y="203911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Rheumatology injection acceptance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718304" y="2496312"/>
            <a:ext cx="27157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F4350"/>
                </a:solidFill>
              </a:rPr>
              <a:t>Accept routine injection referrals when inclusion terms are present and excluded sites such as spine, Achilles, or plantar fascia are absent.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4663440" y="3986784"/>
            <a:ext cx="290779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920" dirty="0">
                <a:solidFill>
                  <a:srgbClr val="3F4350"/>
                </a:solidFill>
              </a:rPr>
              <a:t>Trigger: new referral received</a:t>
            </a:r>
            <a:endParaRPr lang="en-US" sz="920" dirty="0"/>
          </a:p>
          <a:p>
            <a:r>
              <a:rPr lang="en-US" sz="920" dirty="0">
                <a:solidFill>
                  <a:srgbClr val="3F4350"/>
                </a:solidFill>
              </a:rPr>
              <a:t>Tools: analysis + accept + email</a:t>
            </a:r>
            <a:endParaRPr lang="en-US" sz="920" dirty="0"/>
          </a:p>
          <a:p>
            <a:r>
              <a:rPr lang="en-US" sz="920" dirty="0">
                <a:solidFill>
                  <a:srgbClr val="3F4350"/>
                </a:solidFill>
              </a:rPr>
              <a:t>Fallback: leave in new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8229600" y="1874520"/>
            <a:ext cx="3154680" cy="1901952"/>
          </a:xfrm>
          <a:prstGeom prst="roundRect">
            <a:avLst>
              <a:gd name="adj" fmla="val 2404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94192" y="2057400"/>
            <a:ext cx="164592" cy="164592"/>
          </a:xfrm>
          <a:prstGeom prst="ellipse">
            <a:avLst/>
          </a:prstGeom>
          <a:solidFill>
            <a:srgbClr val="FFED70"/>
          </a:solidFill>
          <a:ln w="12700">
            <a:solidFill>
              <a:srgbClr val="FFED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203911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Diagnostic imaging auto-decline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449056" y="2496312"/>
            <a:ext cx="27157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F4350"/>
                </a:solidFill>
              </a:rPr>
              <a:t>Identify obstetrical ultrasound referrals when a site does not provide that service and decline with a requester-facing reason.</a:t>
            </a:r>
            <a:endParaRPr lang="en-US" sz="1070" dirty="0"/>
          </a:p>
        </p:txBody>
      </p:sp>
      <p:sp>
        <p:nvSpPr>
          <p:cNvPr id="22" name="Text 19"/>
          <p:cNvSpPr/>
          <p:nvPr/>
        </p:nvSpPr>
        <p:spPr>
          <a:xfrm>
            <a:off x="8394192" y="3986784"/>
            <a:ext cx="2907792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920" dirty="0">
                <a:solidFill>
                  <a:srgbClr val="3F4350"/>
                </a:solidFill>
              </a:rPr>
              <a:t>Trigger: new referral received</a:t>
            </a:r>
            <a:endParaRPr lang="en-US" sz="920" dirty="0"/>
          </a:p>
          <a:p>
            <a:r>
              <a:rPr lang="en-US" sz="920" dirty="0">
                <a:solidFill>
                  <a:srgbClr val="3F4350"/>
                </a:solidFill>
              </a:rPr>
              <a:t>Tools: analysis + decline + email</a:t>
            </a:r>
            <a:endParaRPr lang="en-US" sz="920" dirty="0"/>
          </a:p>
          <a:p>
            <a:r>
              <a:rPr lang="en-US" sz="920" dirty="0">
                <a:solidFill>
                  <a:srgbClr val="3F4350"/>
                </a:solidFill>
              </a:rPr>
              <a:t>Fallback: leave in new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768096" y="52852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4780"/>
                </a:solidFill>
              </a:rPr>
              <a:t>OPERATING PRINCIPLE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68096" y="5541264"/>
            <a:ext cx="2240280" cy="0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" y="5559552"/>
            <a:ext cx="9875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F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automation candidates have clear inclusion criteria, clear exclusions, a safe fallback, and a clinic-owned process for validating rule behavior before production use.</a:t>
            </a:r>
            <a:endParaRPr lang="en-US" sz="1120" dirty="0"/>
          </a:p>
        </p:txBody>
      </p:sp>
      <p:pic>
        <p:nvPicPr>
          <p:cNvPr id="26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96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3047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cases: reducing administrative handling after intake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86384" y="15179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F4350"/>
                </a:solidFill>
              </a:rPr>
              <a:t>Rules can take routine next steps when the referral content and tenant configuration are sufficient.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6384" y="1874520"/>
            <a:ext cx="256032" cy="256032"/>
          </a:xfrm>
          <a:prstGeom prst="ellipse">
            <a:avLst/>
          </a:prstGeom>
          <a:solidFill>
            <a:srgbClr val="FF4D78"/>
          </a:solidFill>
          <a:ln w="12700">
            <a:solidFill>
              <a:srgbClr val="FF4D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25296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Attachment summary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20440" y="17830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F4350"/>
                </a:solidFill>
              </a:rPr>
              <a:t>Create a consult-note style summary from received documentation for high-volume specialties such as geriatrics.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882128" y="17830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304780"/>
                </a:solidFill>
              </a:rPr>
              <a:t>Higher-risk PHI path; requires explicit attachment-analysis review.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225296" y="2258568"/>
            <a:ext cx="9966960" cy="0"/>
          </a:xfrm>
          <a:prstGeom prst="line">
            <a:avLst/>
          </a:prstGeom>
          <a:noFill/>
          <a:ln w="10160">
            <a:solidFill>
              <a:srgbClr val="BFE9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" y="2834640"/>
            <a:ext cx="256032" cy="256032"/>
          </a:xfrm>
          <a:prstGeom prst="ellipse">
            <a:avLst/>
          </a:prstGeom>
          <a:solidFill>
            <a:srgbClr val="59EFCB"/>
          </a:solidFill>
          <a:ln w="12700">
            <a:solidFill>
              <a:srgbClr val="59EF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5296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Requester clarification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520440" y="2743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F4350"/>
                </a:solidFill>
              </a:rPr>
              <a:t>Send an Ocean message when a referral is missing required details, documents, or booking prerequisites.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882128" y="27432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304780"/>
                </a:solidFill>
              </a:rPr>
              <a:t>Keeps communication inside the Ocean workflow where possible.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225296" y="3218688"/>
            <a:ext cx="9966960" cy="0"/>
          </a:xfrm>
          <a:prstGeom prst="line">
            <a:avLst/>
          </a:prstGeom>
          <a:noFill/>
          <a:ln w="10160">
            <a:solidFill>
              <a:srgbClr val="BFE9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" y="3794760"/>
            <a:ext cx="256032" cy="256032"/>
          </a:xfrm>
          <a:prstGeom prst="ellipse">
            <a:avLst/>
          </a:prstGeom>
          <a:solidFill>
            <a:srgbClr val="8EF176"/>
          </a:solidFill>
          <a:ln w="12700">
            <a:solidFill>
              <a:srgbClr val="8EF1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Booking instructions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520440" y="3703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F4350"/>
                </a:solidFill>
              </a:rPr>
              <a:t>Add standard booking instructions after acceptance based on referral type, pathway, modality, or patient context.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7882128" y="37033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304780"/>
                </a:solidFill>
              </a:rPr>
              <a:t>Useful for repeatable post-triage operations.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225296" y="4178808"/>
            <a:ext cx="9966960" cy="0"/>
          </a:xfrm>
          <a:prstGeom prst="line">
            <a:avLst/>
          </a:prstGeom>
          <a:noFill/>
          <a:ln w="10160">
            <a:solidFill>
              <a:srgbClr val="BFE9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4754880"/>
            <a:ext cx="256032" cy="256032"/>
          </a:xfrm>
          <a:prstGeom prst="ellipse">
            <a:avLst/>
          </a:prstGeom>
          <a:solidFill>
            <a:srgbClr val="FFED70"/>
          </a:solidFill>
          <a:ln w="12700">
            <a:solidFill>
              <a:srgbClr val="FFED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25296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Manual review flag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520440" y="4663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F4350"/>
                </a:solidFill>
              </a:rPr>
              <a:t>Mark edge cases as needing review when criteria are incomplete, ambiguous, conflicting, or outside scope.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7882128" y="46634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304780"/>
                </a:solidFill>
              </a:rPr>
              <a:t>Prevents automation from forcing a brittle decision.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225296" y="5138928"/>
            <a:ext cx="9966960" cy="0"/>
          </a:xfrm>
          <a:prstGeom prst="line">
            <a:avLst/>
          </a:prstGeom>
          <a:noFill/>
          <a:ln w="10160">
            <a:solidFill>
              <a:srgbClr val="BFE9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8096" y="55046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4780"/>
                </a:solidFill>
              </a:rPr>
              <a:t>TOOL ENABLEMENT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8096" y="5760720"/>
            <a:ext cx="2057400" cy="0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8096" y="5797296"/>
            <a:ext cx="9692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F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enable tools a rule needs. Limiting tool access makes rule testing, audit review, and operational troubleshooting easier.</a:t>
            </a:r>
            <a:endParaRPr lang="en-US" sz="1120" dirty="0"/>
          </a:p>
        </p:txBody>
      </p:sp>
      <p:pic>
        <p:nvPicPr>
          <p:cNvPr id="31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96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3047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cases: cross-event workflows require eRequest archival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86384" y="15179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F4350"/>
                </a:solidFill>
              </a:rPr>
              <a:t>Some workflows need the Autorouter to connect a later patient engagement event back to an earlier inbound referral.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" y="2011680"/>
            <a:ext cx="2267712" cy="1463040"/>
          </a:xfrm>
          <a:prstGeom prst="roundRect">
            <a:avLst>
              <a:gd name="adj" fmla="val 3125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194560"/>
            <a:ext cx="164592" cy="164592"/>
          </a:xfrm>
          <a:prstGeom prst="ellipse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6FE8"/>
                </a:solidFill>
              </a:rPr>
              <a:t>Inbound eRequest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87552" y="26334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F4350"/>
                </a:solidFill>
              </a:rPr>
              <a:t>Referral or eConsult arrives and is archived when the tenant has explicitly enabled archival.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3072384" y="2743200"/>
            <a:ext cx="365760" cy="0"/>
          </a:xfrm>
          <a:prstGeom prst="line">
            <a:avLst/>
          </a:prstGeom>
          <a:noFill/>
          <a:ln w="17780">
            <a:solidFill>
              <a:srgbClr val="176FE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557016" y="2011680"/>
            <a:ext cx="226771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21608" y="2194560"/>
            <a:ext cx="164592" cy="164592"/>
          </a:xfrm>
          <a:prstGeom prst="ellipse">
            <a:avLst/>
          </a:prstGeom>
          <a:solidFill>
            <a:srgbClr val="59EFCB"/>
          </a:solidFill>
          <a:ln w="12700">
            <a:solidFill>
              <a:srgbClr val="59EF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76472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6FE8"/>
                </a:solidFill>
              </a:rPr>
              <a:t>Patient intake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776472" y="26334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F4350"/>
                </a:solidFill>
              </a:rPr>
              <a:t>Patient Engagement questionnaire or note is completed after the referral is already in Ocean.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5861304" y="2743200"/>
            <a:ext cx="365760" cy="0"/>
          </a:xfrm>
          <a:prstGeom prst="line">
            <a:avLst/>
          </a:prstGeom>
          <a:noFill/>
          <a:ln w="17780">
            <a:solidFill>
              <a:srgbClr val="176FE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345936" y="2011680"/>
            <a:ext cx="2267712" cy="1463040"/>
          </a:xfrm>
          <a:prstGeom prst="roundRect">
            <a:avLst>
              <a:gd name="adj" fmla="val 3125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10528" y="2194560"/>
            <a:ext cx="164592" cy="164592"/>
          </a:xfrm>
          <a:prstGeom prst="ellipse">
            <a:avLst/>
          </a:prstGeom>
          <a:solidFill>
            <a:srgbClr val="FFED70"/>
          </a:solidFill>
          <a:ln w="12700">
            <a:solidFill>
              <a:srgbClr val="FFED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65392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6FE8"/>
                </a:solidFill>
              </a:rPr>
              <a:t>Match context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65392" y="26334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F4350"/>
                </a:solidFill>
              </a:rPr>
              <a:t>Match by health number plus date of birth, or by normalized name plus date of birth when needed.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8650224" y="2743200"/>
            <a:ext cx="365760" cy="0"/>
          </a:xfrm>
          <a:prstGeom prst="line">
            <a:avLst/>
          </a:prstGeom>
          <a:noFill/>
          <a:ln w="17780">
            <a:solidFill>
              <a:srgbClr val="176FE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134856" y="2011680"/>
            <a:ext cx="2267712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99448" y="2194560"/>
            <a:ext cx="164592" cy="164592"/>
          </a:xfrm>
          <a:prstGeom prst="ellipse">
            <a:avLst/>
          </a:prstGeom>
          <a:solidFill>
            <a:srgbClr val="8EF176"/>
          </a:solidFill>
          <a:ln w="12700">
            <a:solidFill>
              <a:srgbClr val="8EF17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54312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6FE8"/>
                </a:solidFill>
              </a:rPr>
              <a:t>Route outcome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354312" y="26334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F4350"/>
                </a:solidFill>
              </a:rPr>
              <a:t>Run intake-completed rules against the matched referral target and record match outcome in Activity Log.</a:t>
            </a: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768096" y="43159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4780"/>
                </a:solidFill>
              </a:rPr>
              <a:t>RETENTION IMPLICATION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68096" y="4572000"/>
            <a:ext cx="2331720" cy="0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8096" y="4645152"/>
            <a:ext cx="99669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20" dirty="0">
                <a:solidFill>
                  <a:srgbClr val="3F4350"/>
                </a:solidFill>
              </a:rPr>
              <a:t>Archival changes the data-retention posture because raw bundles, PDFs, metadata, and attachments may be retained.</a:t>
            </a:r>
            <a:endParaRPr lang="en-US" sz="1120" dirty="0"/>
          </a:p>
          <a:p>
            <a:r>
              <a:rPr lang="en-US" sz="1120" dirty="0">
                <a:solidFill>
                  <a:srgbClr val="3F4350"/>
                </a:solidFill>
              </a:rPr>
              <a:t>Enable only after reviewing purpose, minimum fields, retention period, disposal, access controls, encryption, backups, and audit behavior.</a:t>
            </a:r>
            <a:endParaRPr lang="en-US" sz="1120" dirty="0"/>
          </a:p>
          <a:p>
            <a:r>
              <a:rPr lang="en-US" sz="1120" dirty="0">
                <a:solidFill>
                  <a:srgbClr val="3F4350"/>
                </a:solidFill>
              </a:rPr>
              <a:t>If no archived matching referral exists, the system should not run referral-targeted intake-completed rules.</a:t>
            </a:r>
            <a:endParaRPr lang="en-US" sz="1120" dirty="0"/>
          </a:p>
        </p:txBody>
      </p:sp>
      <p:pic>
        <p:nvPicPr>
          <p:cNvPr id="30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96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3047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Autorouter is an event-driven rules engine around Ocean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86384" y="15179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F4350"/>
                </a:solidFill>
              </a:rPr>
              <a:t>Rules combine event context, AI reasoning, enabled tools, and secure Ocean API actions.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2148840"/>
            <a:ext cx="1856232" cy="1828800"/>
          </a:xfrm>
          <a:prstGeom prst="roundRect">
            <a:avLst>
              <a:gd name="adj" fmla="val 2500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0392" y="2304288"/>
            <a:ext cx="292608" cy="256032"/>
          </a:xfrm>
          <a:prstGeom prst="rect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23591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50392" y="2715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780"/>
                </a:solidFill>
              </a:rPr>
              <a:t>Ocean event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0392" y="30998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F4350"/>
                </a:solidFill>
              </a:rPr>
              <a:t>Referral submitted, received, updated, cancelled, messaged, accepted, declined, or completed.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78608" y="3063240"/>
            <a:ext cx="283464" cy="0"/>
          </a:xfrm>
          <a:prstGeom prst="line">
            <a:avLst/>
          </a:prstGeom>
          <a:noFill/>
          <a:ln w="17780">
            <a:solidFill>
              <a:srgbClr val="176FE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953512" y="2148840"/>
            <a:ext cx="185623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18104" y="2304288"/>
            <a:ext cx="292608" cy="256032"/>
          </a:xfrm>
          <a:prstGeom prst="rect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18104" y="23591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118104" y="2715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780"/>
                </a:solidFill>
              </a:rPr>
              <a:t>Rule context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118104" y="30998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F4350"/>
                </a:solidFill>
              </a:rPr>
              <a:t>Trigger, instructions, event payload, patient/referrer context, and enabled tool list.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846320" y="3063240"/>
            <a:ext cx="283464" cy="0"/>
          </a:xfrm>
          <a:prstGeom prst="line">
            <a:avLst/>
          </a:prstGeom>
          <a:noFill/>
          <a:ln w="17780">
            <a:solidFill>
              <a:srgbClr val="176FE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221224" y="2148840"/>
            <a:ext cx="1856232" cy="1828800"/>
          </a:xfrm>
          <a:prstGeom prst="roundRect">
            <a:avLst>
              <a:gd name="adj" fmla="val 2500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85816" y="2304288"/>
            <a:ext cx="292608" cy="256032"/>
          </a:xfrm>
          <a:prstGeom prst="rect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85816" y="23591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385816" y="2715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780"/>
                </a:solidFill>
              </a:rPr>
              <a:t>AI decision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85816" y="30998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F4350"/>
                </a:solidFill>
              </a:rPr>
              <a:t>Evaluate whether the rule should execute and produce validated planned actions.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114032" y="3063240"/>
            <a:ext cx="283464" cy="0"/>
          </a:xfrm>
          <a:prstGeom prst="line">
            <a:avLst/>
          </a:prstGeom>
          <a:noFill/>
          <a:ln w="17780">
            <a:solidFill>
              <a:srgbClr val="176FE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488936" y="2148840"/>
            <a:ext cx="185623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53528" y="2304288"/>
            <a:ext cx="292608" cy="256032"/>
          </a:xfrm>
          <a:prstGeom prst="rect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53528" y="23591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653528" y="2715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780"/>
                </a:solidFill>
              </a:rPr>
              <a:t>Tool execution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653528" y="30998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F4350"/>
                </a:solidFill>
              </a:rPr>
              <a:t>Forward, assign, change status, message, summarize attachments, or update metadata.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381744" y="3063240"/>
            <a:ext cx="283464" cy="0"/>
          </a:xfrm>
          <a:prstGeom prst="line">
            <a:avLst/>
          </a:prstGeom>
          <a:noFill/>
          <a:ln w="17780">
            <a:solidFill>
              <a:srgbClr val="176FE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756648" y="2148840"/>
            <a:ext cx="1856232" cy="1828800"/>
          </a:xfrm>
          <a:prstGeom prst="roundRect">
            <a:avLst>
              <a:gd name="adj" fmla="val 2500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921240" y="2304288"/>
            <a:ext cx="292608" cy="256032"/>
          </a:xfrm>
          <a:prstGeom prst="rect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921240" y="23591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921240" y="2715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780"/>
                </a:solidFill>
              </a:rPr>
              <a:t>Audit trail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921240" y="30998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F4350"/>
                </a:solidFill>
              </a:rPr>
              <a:t>Record decisions, planned tools, execution outcome, and operational references.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68096" y="47914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4780"/>
                </a:solidFill>
              </a:rPr>
              <a:t>CURRENT BOUNDARY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68096" y="5047488"/>
            <a:ext cx="2057400" cy="0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8096" y="5138928"/>
            <a:ext cx="96012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F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evaluate the payload and configured rule instructions available at runtime. They do not automatically query EMRs, scheduling systems, live wait-time feeds, or other operational data unless those integrations are explicitly added.</a:t>
            </a:r>
            <a:endParaRPr lang="en-US" sz="1150" dirty="0"/>
          </a:p>
        </p:txBody>
      </p:sp>
      <p:pic>
        <p:nvPicPr>
          <p:cNvPr id="40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96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3047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set spans analysis, Ocean actions, communications, and testing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86384" y="15179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F4350"/>
                </a:solidFill>
              </a:rPr>
              <a:t>Each capability is configured per tenant/site and exposed to rules only when the corresponding tool is enabled.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" y="1920240"/>
            <a:ext cx="315468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103120"/>
            <a:ext cx="164592" cy="164592"/>
          </a:xfrm>
          <a:prstGeom prst="ellipse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08483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Referral analysis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87552" y="25420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Analyze referral form data, reason for referral, provider context, patient context, and event metadata.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53128" y="1920240"/>
            <a:ext cx="315468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2103120"/>
            <a:ext cx="164592" cy="164592"/>
          </a:xfrm>
          <a:prstGeom prst="ellipse">
            <a:avLst/>
          </a:prstGeom>
          <a:solidFill>
            <a:srgbClr val="FF4D78"/>
          </a:solidFill>
          <a:ln w="12700">
            <a:solidFill>
              <a:srgbClr val="FF4D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72584" y="208483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Attachment summaries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672584" y="25420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Summarize referral documents when explicitly enabled; treated as a higher-risk PHI path.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38160" y="1920240"/>
            <a:ext cx="315468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02752" y="2103120"/>
            <a:ext cx="164592" cy="164592"/>
          </a:xfrm>
          <a:prstGeom prst="ellipse">
            <a:avLst/>
          </a:prstGeom>
          <a:solidFill>
            <a:srgbClr val="59EFCB"/>
          </a:solidFill>
          <a:ln w="12700">
            <a:solidFill>
              <a:srgbClr val="59EF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57616" y="208483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Triage &amp; routing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57616" y="25420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Forward to a listing, assign to a provider/listing, or mark for manual review when criteria are met.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68096" y="3474720"/>
            <a:ext cx="315468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2688" y="3657600"/>
            <a:ext cx="164592" cy="164592"/>
          </a:xfrm>
          <a:prstGeom prst="ellipse">
            <a:avLst/>
          </a:prstGeom>
          <a:solidFill>
            <a:srgbClr val="8EF176"/>
          </a:solidFill>
          <a:ln w="12700">
            <a:solidFill>
              <a:srgbClr val="8EF1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" y="363931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Request management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87552" y="409651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Accept, decline, complete, toggle eConsult/eReferral, update category, and add booking instructions.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453128" y="3474720"/>
            <a:ext cx="315468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17720" y="3657600"/>
            <a:ext cx="164592" cy="164592"/>
          </a:xfrm>
          <a:prstGeom prst="ellipse">
            <a:avLst/>
          </a:prstGeom>
          <a:solidFill>
            <a:srgbClr val="FFED70"/>
          </a:solidFill>
          <a:ln w="12700">
            <a:solidFill>
              <a:srgbClr val="FFED7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72584" y="363931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Communications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672584" y="409651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Send Ocean messages to requesters and optional email/SMS notifications through configured services.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138160" y="3474720"/>
            <a:ext cx="315468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02752" y="3657600"/>
            <a:ext cx="164592" cy="164592"/>
          </a:xfrm>
          <a:prstGeom prst="ellipse">
            <a:avLst/>
          </a:prstGeom>
          <a:solidFill>
            <a:srgbClr val="304780"/>
          </a:solidFill>
          <a:ln w="12700">
            <a:solidFill>
              <a:srgbClr val="30478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57616" y="363931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6FE8"/>
                </a:solidFill>
              </a:rPr>
              <a:t>Testing &amp; audits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357616" y="409651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Simulate rule evaluation, inspect planned actions, and record privacy/LLM decision and tool execution logs.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68096" y="52852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4780"/>
                </a:solidFill>
              </a:rPr>
              <a:t>OPTIONAL SERVICES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8096" y="5541264"/>
            <a:ext cx="2057400" cy="0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" y="5577840"/>
            <a:ext cx="9509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F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deployment can run without Twilio or SMTP2GO if SMS/email actions are not needed. AI, email, and SMS providers are selected at the tenant level.</a:t>
            </a:r>
            <a:endParaRPr lang="en-US" sz="1120" dirty="0"/>
          </a:p>
        </p:txBody>
      </p:sp>
      <p:pic>
        <p:nvPicPr>
          <p:cNvPr id="35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96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3047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 is cloud-flexible; AWS is the current concrete example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86384" y="15179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F4350"/>
                </a:solidFill>
              </a:rPr>
              <a:t>The app is a standalone Nuxt/Nitro service with PostgreSQL, AI provider access, OAuth, and optional communication integrations.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" y="1810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4780"/>
                </a:solidFill>
              </a:rPr>
              <a:t>PROVIDER-NEUTRAL REQUIREMENTS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86384" y="2066544"/>
            <a:ext cx="2834640" cy="0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" y="2157984"/>
            <a:ext cx="4709160" cy="530352"/>
          </a:xfrm>
          <a:prstGeom prst="roundRect">
            <a:avLst>
              <a:gd name="adj" fmla="val 6897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22677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6FE8"/>
                </a:solidFill>
              </a:rPr>
              <a:t>Web app hosting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51176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F4350"/>
                </a:solidFill>
              </a:rPr>
              <a:t>Nuxt SSR/serverless-capable runtime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68096" y="2779776"/>
            <a:ext cx="47091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28895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6FE8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51176" y="288950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F4350"/>
                </a:solidFill>
              </a:rPr>
              <a:t>Managed Postgres compatible with Drizzle ORM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68096" y="3401568"/>
            <a:ext cx="4709160" cy="530352"/>
          </a:xfrm>
          <a:prstGeom prst="roundRect">
            <a:avLst>
              <a:gd name="adj" fmla="val 6897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3511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6FE8"/>
                </a:solidFill>
              </a:rPr>
              <a:t>AI provider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51176" y="35112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F4350"/>
                </a:solidFill>
              </a:rPr>
              <a:t>Azure OpenAI, OpenAI API, Google AI/Gemini, Cohere, or local/Canadian options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768096" y="4023360"/>
            <a:ext cx="47091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4133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6FE8"/>
                </a:solidFill>
              </a:rPr>
              <a:t>OAuth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551176" y="4133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F4350"/>
                </a:solidFill>
              </a:rPr>
              <a:t>Google and/or GitHub app registration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768096" y="4645152"/>
            <a:ext cx="4709160" cy="530352"/>
          </a:xfrm>
          <a:prstGeom prst="roundRect">
            <a:avLst>
              <a:gd name="adj" fmla="val 6897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4754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6FE8"/>
                </a:solidFill>
              </a:rPr>
              <a:t>Optional services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551176" y="47548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F4350"/>
                </a:solidFill>
              </a:rPr>
              <a:t>SMS and email providers only when those tools are enabled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6144768" y="1810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4780"/>
                </a:solidFill>
              </a:rPr>
              <a:t>AWS EXAMPLE DEPLOYMENT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144768" y="2066544"/>
            <a:ext cx="2423160" cy="0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2157984"/>
            <a:ext cx="4709160" cy="530352"/>
          </a:xfrm>
          <a:prstGeom prst="roundRect">
            <a:avLst>
              <a:gd name="adj" fmla="val 6897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45936" y="22677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6FE8"/>
                </a:solidFill>
              </a:rPr>
              <a:t>Nuxt/Nitro app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909560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F4350"/>
                </a:solidFill>
              </a:rPr>
              <a:t>AWS serverless app deployment path via repository CDK scripts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6126480" y="2779776"/>
            <a:ext cx="47091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45936" y="28895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6FE8"/>
                </a:solidFill>
              </a:rPr>
              <a:t>Database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909560" y="288950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F4350"/>
                </a:solidFill>
              </a:rPr>
              <a:t>RDS/Aurora PostgreSQL or Aurora Data API mode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6126480" y="3401568"/>
            <a:ext cx="4709160" cy="530352"/>
          </a:xfrm>
          <a:prstGeom prst="roundRect">
            <a:avLst>
              <a:gd name="adj" fmla="val 6897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3511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6FE8"/>
                </a:solidFill>
              </a:rPr>
              <a:t>eRequest blobs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909560" y="35112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F4350"/>
                </a:solidFill>
              </a:rPr>
              <a:t>S3-backed storage for archived PDFs/attachments when archival is enabled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6126480" y="4023360"/>
            <a:ext cx="47091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45936" y="4133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6FE8"/>
                </a:solidFill>
              </a:rPr>
              <a:t>Secrets &amp; auth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909560" y="4133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F4350"/>
                </a:solidFill>
              </a:rPr>
              <a:t>OAuth credentials, tenant settings, and first-admin allowlist setup</a:t>
            </a:r>
            <a:endParaRPr lang="en-US" sz="820" dirty="0"/>
          </a:p>
        </p:txBody>
      </p:sp>
      <p:sp>
        <p:nvSpPr>
          <p:cNvPr id="39" name="Shape 36"/>
          <p:cNvSpPr/>
          <p:nvPr/>
        </p:nvSpPr>
        <p:spPr>
          <a:xfrm>
            <a:off x="6126480" y="4645152"/>
            <a:ext cx="4709160" cy="530352"/>
          </a:xfrm>
          <a:prstGeom prst="roundRect">
            <a:avLst>
              <a:gd name="adj" fmla="val 6897"/>
            </a:avLst>
          </a:prstGeom>
          <a:solidFill>
            <a:srgbClr val="E9F8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45936" y="4754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76FE8"/>
                </a:solidFill>
              </a:rPr>
              <a:t>Go-live controls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909560" y="47548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F4350"/>
                </a:solidFill>
              </a:rPr>
              <a:t>Confirm encryption, backups, region, snapshots, logs, and KMS posture</a:t>
            </a:r>
            <a:endParaRPr lang="en-US" sz="820" dirty="0"/>
          </a:p>
        </p:txBody>
      </p:sp>
      <p:pic>
        <p:nvPicPr>
          <p:cNvPr id="42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96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3047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Tenant setup separates hosting from operational configuration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86384" y="15179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F4350"/>
                </a:solidFill>
              </a:rPr>
              <a:t>The hosting provider can run the app, but each tenant/site controls Ocean credentials, AI model choice, and tool enablement.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4672" y="1847088"/>
            <a:ext cx="329184" cy="329184"/>
          </a:xfrm>
          <a:prstGeom prst="ellipse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202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32588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780"/>
                </a:solidFill>
              </a:rPr>
              <a:t>Admin access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29000" y="182880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F4350"/>
                </a:solidFill>
              </a:rPr>
              <a:t>Sign in with Google or GitHub; first system admin is allowlisted after initial login.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9264" y="2194560"/>
            <a:ext cx="0" cy="329184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" y="2560320"/>
            <a:ext cx="329184" cy="329184"/>
          </a:xfrm>
          <a:prstGeom prst="ellipse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26334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325880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780"/>
                </a:solidFill>
              </a:rPr>
              <a:t>Ocean OAuth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254203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F4350"/>
                </a:solidFill>
              </a:rPr>
              <a:t>Create Ocean site-specific Client ID and Secret, then test the connection from Autorouter.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9264" y="2907792"/>
            <a:ext cx="0" cy="329184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3273552"/>
            <a:ext cx="329184" cy="329184"/>
          </a:xfrm>
          <a:prstGeom prst="ellipse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334670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325880" y="3255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780"/>
                </a:solidFill>
              </a:rPr>
              <a:t>Ocean integration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429000" y="325526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F4350"/>
                </a:solidFill>
              </a:rPr>
              <a:t>Register eReferral and CDS Hooks integration URLs in Ocean and enable the integration on relevant listings.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9264" y="3621024"/>
            <a:ext cx="0" cy="329184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" y="3986784"/>
            <a:ext cx="329184" cy="329184"/>
          </a:xfrm>
          <a:prstGeom prst="ellipse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4672" y="405993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325880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780"/>
                </a:solidFill>
              </a:rPr>
              <a:t>Provider choices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429000" y="396849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F4350"/>
                </a:solidFill>
              </a:rPr>
              <a:t>Configure the tenant’s AI model provider; add SMS/email credentials only when those tools are required.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9264" y="4334256"/>
            <a:ext cx="0" cy="329184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4672" y="4700016"/>
            <a:ext cx="329184" cy="329184"/>
          </a:xfrm>
          <a:prstGeom prst="ellipse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" y="477316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325880" y="4681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780"/>
                </a:solidFill>
              </a:rPr>
              <a:t>Rules &amp; tools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429000" y="46817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F4350"/>
                </a:solidFill>
              </a:rPr>
              <a:t>Create routing rules, choose trigger events, write instructions, and enable only the tools that rule may use.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04672" y="5486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4780"/>
                </a:solidFill>
              </a:rPr>
              <a:t>RULE AUTHORING GUIDANCE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04672" y="5742432"/>
            <a:ext cx="2560320" cy="0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4672" y="5742432"/>
            <a:ext cx="9784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F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criteria, clear if/then logic, explicit fallbacks, and limited tool enablement make rules easier to test, audit, and govern.</a:t>
            </a:r>
            <a:endParaRPr lang="en-US" sz="1120" dirty="0"/>
          </a:p>
        </p:txBody>
      </p:sp>
      <p:pic>
        <p:nvPicPr>
          <p:cNvPr id="35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CFF"/>
          </a:solidFill>
          <a:ln w="12700">
            <a:solidFill>
              <a:srgbClr val="F7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EEF9FF">
              <a:alpha val="85000"/>
            </a:srgbClr>
          </a:solidFill>
          <a:ln w="12700">
            <a:solidFill>
              <a:srgbClr val="EEF9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D6F3FF">
              <a:alpha val="90000"/>
            </a:srgbClr>
          </a:solidFill>
          <a:ln w="12700">
            <a:solidFill>
              <a:srgbClr val="D6F3FF">
                <a:alpha val="0"/>
              </a:srgbClr>
            </a:solidFill>
            <a:prstDash val="solid"/>
          </a:ln>
        </p:spPr>
      </p:sp>
      <p:pic>
        <p:nvPicPr>
          <p:cNvPr id="5" name="Image 0" descr="/Users/dougkavanagh/workspace/oceanmd-autorouter/outputs/manual-20260602-usecases/presentations/autorouter-usecases/template-inspect/assets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16752"/>
            <a:ext cx="246888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896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3047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boundaries should be explicit before production use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86384" y="15179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F4350"/>
                </a:solidFill>
              </a:rPr>
              <a:t>The reference implementation is intentionally practical, but production clinical workflows need clear safety controls.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" y="1847088"/>
            <a:ext cx="5074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029968"/>
            <a:ext cx="164592" cy="164592"/>
          </a:xfrm>
          <a:prstGeom prst="ellipse">
            <a:avLst/>
          </a:prstGeom>
          <a:solidFill>
            <a:srgbClr val="176FE8"/>
          </a:solidFill>
          <a:ln w="12700">
            <a:solidFill>
              <a:srgbClr val="176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011680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6FE8"/>
                </a:solidFill>
              </a:rPr>
              <a:t>Data available to rules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987552" y="2468880"/>
            <a:ext cx="4636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Rules reason over the event payload, rule instructions, and tool inputs available at evaluation time.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8096" y="2852928"/>
            <a:ext cx="5074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035808"/>
            <a:ext cx="164592" cy="164592"/>
          </a:xfrm>
          <a:prstGeom prst="ellipse">
            <a:avLst/>
          </a:prstGeom>
          <a:solidFill>
            <a:srgbClr val="FFED70"/>
          </a:solidFill>
          <a:ln w="12700">
            <a:solidFill>
              <a:srgbClr val="FFED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3017520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6FE8"/>
                </a:solidFill>
              </a:rPr>
              <a:t>Testing mode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987552" y="3474720"/>
            <a:ext cx="4636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Current Testing is evaluation-only; it shows planned actions but does not execute external side effects.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8096" y="3858768"/>
            <a:ext cx="5074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2688" y="4041648"/>
            <a:ext cx="164592" cy="164592"/>
          </a:xfrm>
          <a:prstGeom prst="ellipse">
            <a:avLst/>
          </a:prstGeom>
          <a:solidFill>
            <a:srgbClr val="FF4D78"/>
          </a:solidFill>
          <a:ln w="12700">
            <a:solidFill>
              <a:srgbClr val="FF4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4023360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6FE8"/>
                </a:solidFill>
              </a:rPr>
              <a:t>Rule collisions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987552" y="4480560"/>
            <a:ext cx="4636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Rules run sequentially today, but explicit priority, stop-processing, and conflict handling are roadmap improvements.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17920" y="1847088"/>
            <a:ext cx="5074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029968"/>
            <a:ext cx="164592" cy="164592"/>
          </a:xfrm>
          <a:prstGeom prst="ellipse">
            <a:avLst/>
          </a:prstGeom>
          <a:solidFill>
            <a:srgbClr val="59EFCB"/>
          </a:solidFill>
          <a:ln w="12700">
            <a:solidFill>
              <a:srgbClr val="59EF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7376" y="2011680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6FE8"/>
                </a:solidFill>
              </a:rPr>
              <a:t>PHI and AI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6437376" y="2468880"/>
            <a:ext cx="4636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Organizations choose the AI provider/model and should document residency, vendor, transparency, and PIA posture.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17920" y="2852928"/>
            <a:ext cx="5074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82512" y="3035808"/>
            <a:ext cx="164592" cy="164592"/>
          </a:xfrm>
          <a:prstGeom prst="ellipse">
            <a:avLst/>
          </a:prstGeom>
          <a:solidFill>
            <a:srgbClr val="FF4D78"/>
          </a:solidFill>
          <a:ln w="12700">
            <a:solidFill>
              <a:srgbClr val="FF4D7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37376" y="3017520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6FE8"/>
                </a:solidFill>
              </a:rPr>
              <a:t>Attachments</a:t>
            </a:r>
            <a:endParaRPr lang="en-US" sz="1240" dirty="0"/>
          </a:p>
        </p:txBody>
      </p:sp>
      <p:sp>
        <p:nvSpPr>
          <p:cNvPr id="27" name="Text 24"/>
          <p:cNvSpPr/>
          <p:nvPr/>
        </p:nvSpPr>
        <p:spPr>
          <a:xfrm>
            <a:off x="6437376" y="3474720"/>
            <a:ext cx="4636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Attachment analysis should assume PHI may be sent to the configured AI provider.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17920" y="3858768"/>
            <a:ext cx="5074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FE9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82512" y="4041648"/>
            <a:ext cx="164592" cy="164592"/>
          </a:xfrm>
          <a:prstGeom prst="ellipse">
            <a:avLst/>
          </a:prstGeom>
          <a:solidFill>
            <a:srgbClr val="304780"/>
          </a:solidFill>
          <a:ln w="12700">
            <a:solidFill>
              <a:srgbClr val="30478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37376" y="4023360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76FE8"/>
                </a:solidFill>
              </a:rPr>
              <a:t>Auditability</a:t>
            </a:r>
            <a:endParaRPr lang="en-US" sz="1240" dirty="0"/>
          </a:p>
        </p:txBody>
      </p:sp>
      <p:sp>
        <p:nvSpPr>
          <p:cNvPr id="31" name="Text 28"/>
          <p:cNvSpPr/>
          <p:nvPr/>
        </p:nvSpPr>
        <p:spPr>
          <a:xfrm>
            <a:off x="6437376" y="4480560"/>
            <a:ext cx="4636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F4350"/>
                </a:solidFill>
              </a:rPr>
              <a:t>Decision and tool execution audit tables support traceability; a timeline UI is a planned strengthening area.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68096" y="5230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4780"/>
                </a:solidFill>
              </a:rPr>
              <a:t>PRODUCTION MESSAGE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8096" y="5486400"/>
            <a:ext cx="2331720" cy="0"/>
          </a:xfrm>
          <a:prstGeom prst="line">
            <a:avLst/>
          </a:prstGeom>
          <a:noFill/>
          <a:ln w="12700">
            <a:solidFill>
              <a:srgbClr val="BFE9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" y="5532120"/>
            <a:ext cx="9875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F4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Autorouter as an auditable workflow automation layer. Keep clinical policy ownership, rule review, and privacy accountability with the responsible organization.</a:t>
            </a:r>
            <a:endParaRPr lang="en-US" sz="1140" dirty="0"/>
          </a:p>
        </p:txBody>
      </p:sp>
      <p:pic>
        <p:nvPicPr>
          <p:cNvPr id="35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9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9CEB"/>
          </a:solidFill>
          <a:ln w="12700">
            <a:solidFill>
              <a:srgbClr val="2D9CEB"/>
            </a:solidFill>
            <a:prstDash val="solid"/>
          </a:ln>
        </p:spPr>
      </p:sp>
      <p:pic>
        <p:nvPicPr>
          <p:cNvPr id="3" name="Image 0" descr="/Users/dougkavanagh/workspace/oceanmd-autorouter/outputs/manual-20260602-usecases/presentations/autorouter-usecases/template-inspect/assets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88920"/>
            <a:ext cx="12188952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8348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</a:rPr>
              <a:t>Thank You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1" descr="/Users/dougkavanagh/workspace/oceanmd-autorouter/outputs/manual-20260602-usecases/presentations/autorouter-usecases/template-inspect/assets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46520"/>
            <a:ext cx="141732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OceanMD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Labs Autorouter Overview - Expanded</dc:title>
  <dc:subject>Ocean Labs Autorouter conceptual overview</dc:subject>
  <dc:creator>OceanMD</dc:creator>
  <cp:lastModifiedBy>OceanMD</cp:lastModifiedBy>
  <cp:revision>1</cp:revision>
  <dcterms:created xsi:type="dcterms:W3CDTF">2026-06-02T15:19:05Z</dcterms:created>
  <dcterms:modified xsi:type="dcterms:W3CDTF">2026-06-02T15:19:05Z</dcterms:modified>
</cp:coreProperties>
</file>